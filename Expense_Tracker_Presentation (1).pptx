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Share of Spend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28090"/>
              </a:solidFill>
              <a:effectLst/>
            </c:spPr>
          </c:dPt>
          <c:dPt>
            <c:idx val="1"/>
            <c:bubble3D val="0"/>
            <c:spPr>
              <a:solidFill>
                <a:srgbClr val="00A896"/>
              </a:solidFill>
              <a:effectLst/>
            </c:spPr>
          </c:dPt>
          <c:dPt>
            <c:idx val="2"/>
            <c:bubble3D val="0"/>
            <c:spPr>
              <a:solidFill>
                <a:srgbClr val="02C39A"/>
              </a:solidFill>
              <a:effectLst/>
            </c:spPr>
          </c:dPt>
          <c:dPt>
            <c:idx val="3"/>
            <c:bubble3D val="0"/>
            <c:spPr>
              <a:solidFill>
                <a:srgbClr val="6FB9B3"/>
              </a:solidFill>
              <a:effectLst/>
            </c:spPr>
          </c:dPt>
          <c:dPt>
            <c:idx val="4"/>
            <c:bubble3D val="0"/>
            <c:spPr>
              <a:solidFill>
                <a:srgbClr val="B7D9D6"/>
              </a:solidFill>
              <a:effectLst/>
            </c:spPr>
          </c:dPt>
          <c:dLbls>
            <c:dLbl>
              <c:idx val="0"/>
              <c:numFmt formatCode="0&quot;%&quot;" sourceLinked="0"/>
              <c:spPr/>
              <c:txPr>
                <a:bodyPr/>
                <a:lstStyle/>
                <a:p>
                  <a:pPr>
                    <a:defRPr sz="13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0&quot;%&quot;" sourceLinked="0"/>
              <c:spPr/>
              <c:txPr>
                <a:bodyPr/>
                <a:lstStyle/>
                <a:p>
                  <a:pPr>
                    <a:defRPr sz="13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0&quot;%&quot;" sourceLinked="0"/>
              <c:spPr/>
              <c:txPr>
                <a:bodyPr/>
                <a:lstStyle/>
                <a:p>
                  <a:pPr>
                    <a:defRPr sz="13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numFmt formatCode="0&quot;%&quot;" sourceLinked="0"/>
              <c:spPr/>
              <c:txPr>
                <a:bodyPr/>
                <a:lstStyle/>
                <a:p>
                  <a:pPr>
                    <a:defRPr sz="13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numFmt formatCode="0&quot;%&quot;" sourceLinked="0"/>
              <c:spPr/>
              <c:txPr>
                <a:bodyPr/>
                <a:lstStyle/>
                <a:p>
                  <a:pPr>
                    <a:defRPr sz="13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0&quot;%&quot;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Food</c:v>
                </c:pt>
                <c:pt idx="1">
                  <c:v>Transport</c:v>
                </c:pt>
                <c:pt idx="2">
                  <c:v>Bills</c:v>
                </c:pt>
                <c:pt idx="3">
                  <c:v>Entertainment</c:v>
                </c:pt>
                <c:pt idx="4">
                  <c:v>Other</c:v>
                </c:pt>
              </c:strCache>
            </c:strRef>
          </c:cat>
          <c:val>
            <c:numRef>
              <c:f>Sheet1!$B$2:$B$6</c:f>
              <c:numCache>
                <c:ptCount val="5"/>
                <c:pt idx="0">
                  <c:v>35</c:v>
                </c:pt>
                <c:pt idx="1">
                  <c:v>20</c:v>
                </c:pt>
                <c:pt idx="2">
                  <c:v>25</c:v>
                </c:pt>
                <c:pt idx="3">
                  <c:v>10</c:v>
                </c:pt>
                <c:pt idx="4">
                  <c:v>10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-1463040"/>
            <a:ext cx="5029200" cy="5029200"/>
          </a:xfrm>
          <a:prstGeom prst="ellipse">
            <a:avLst/>
          </a:prstGeom>
          <a:solidFill>
            <a:srgbClr val="028090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645920" y="4206240"/>
            <a:ext cx="3840480" cy="3840480"/>
          </a:xfrm>
          <a:prstGeom prst="ellipse">
            <a:avLst/>
          </a:prstGeom>
          <a:solidFill>
            <a:srgbClr val="00A896">
              <a:alpha val="3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219456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EXPENSE TRACKER</a:t>
            </a:r>
            <a:endParaRPr lang="en-US" sz="50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3200400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&amp; User Modules — built with pure HTML, CSS &amp; JavaScript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58064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SDC Project Review – 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614476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CF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[Your Name]  |  [Your College]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2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Is Hard Today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00200"/>
            <a:ext cx="822960" cy="82296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6002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20" dirty="0">
                <a:solidFill>
                  <a:srgbClr val="000000"/>
                </a:solidFill>
              </a:rPr>
              <a:t>🧾</a:t>
            </a:r>
            <a:endParaRPr lang="en-US" sz="2520" dirty="0"/>
          </a:p>
        </p:txBody>
      </p:sp>
      <p:sp>
        <p:nvSpPr>
          <p:cNvPr id="5" name="Text 3"/>
          <p:cNvSpPr txBox="1"/>
          <p:nvPr/>
        </p:nvSpPr>
        <p:spPr>
          <a:xfrm>
            <a:off x="1737360" y="1554480"/>
            <a:ext cx="9692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2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Receipts pile up, then get forgotten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1737360" y="196596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purchases and small digital payments are rarely written down anywhere.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3017520"/>
            <a:ext cx="822960" cy="82296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30175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20" dirty="0">
                <a:solidFill>
                  <a:srgbClr val="000000"/>
                </a:solidFill>
              </a:rPr>
              <a:t>📊</a:t>
            </a:r>
            <a:endParaRPr lang="en-US" sz="2520" dirty="0"/>
          </a:p>
        </p:txBody>
      </p:sp>
      <p:sp>
        <p:nvSpPr>
          <p:cNvPr id="9" name="Text 7"/>
          <p:cNvSpPr txBox="1"/>
          <p:nvPr/>
        </p:nvSpPr>
        <p:spPr>
          <a:xfrm>
            <a:off x="1737360" y="2971800"/>
            <a:ext cx="9692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2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live picture of spending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1737360" y="338328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time a statement arrives, it's too late to change that month's habits.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4434840"/>
            <a:ext cx="822960" cy="82296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4348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20" dirty="0">
                <a:solidFill>
                  <a:srgbClr val="000000"/>
                </a:solidFill>
              </a:rPr>
              <a:t>🔐</a:t>
            </a:r>
            <a:endParaRPr lang="en-US" sz="2520" dirty="0"/>
          </a:p>
        </p:txBody>
      </p:sp>
      <p:sp>
        <p:nvSpPr>
          <p:cNvPr id="13" name="Text 11"/>
          <p:cNvSpPr txBox="1"/>
          <p:nvPr/>
        </p:nvSpPr>
        <p:spPr>
          <a:xfrm>
            <a:off x="1737360" y="4389120"/>
            <a:ext cx="9692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2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Full budgeting apps ask for too much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1737360" y="480060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Accounts, logins and subscriptions are a lot of friction for a quick check-in.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1475720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2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Statement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874520"/>
            <a:ext cx="82296" cy="3291840"/>
          </a:xfrm>
          <a:prstGeom prst="roundRect">
            <a:avLst/>
          </a:prstGeom>
          <a:solidFill>
            <a:srgbClr val="02C39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051560" y="1783080"/>
            <a:ext cx="96926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2500" i="1" dirty="0">
                <a:solidFill>
                  <a:srgbClr val="0B2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There is no lightweight, browser-only application that lets a person sign in, record personal or group expenses against named group members, and immediately see both category-wise and person-wise spending —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051560" y="3886200"/>
            <a:ext cx="9692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2500" i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while also giving an administrator a simple way to oversee category settings and monitor user activity, without relying on any backend server or external framework.</a:t>
            </a:r>
            <a:endParaRPr lang="en-US" sz="2500" dirty="0"/>
          </a:p>
        </p:txBody>
      </p:sp>
      <p:sp>
        <p:nvSpPr>
          <p:cNvPr id="6" name="Text 4"/>
          <p:cNvSpPr txBox="1"/>
          <p:nvPr/>
        </p:nvSpPr>
        <p:spPr>
          <a:xfrm>
            <a:off x="11475720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2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Objectives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347472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1B1B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77240" y="1783080"/>
            <a:ext cx="502920" cy="109728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20116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B2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Sign Up &amp; Log In</a:t>
            </a:r>
            <a:endParaRPr lang="en-US" sz="165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46888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Accounts and sessions handled with LocalStorage.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343400" y="1554480"/>
            <a:ext cx="347472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1B1B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0" y="1783080"/>
            <a:ext cx="502920" cy="109728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72000" y="20116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B2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Clear Modules</a:t>
            </a:r>
            <a:endParaRPr lang="en-US" sz="165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246888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Admin and User areas, routed by role.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138160" y="1554480"/>
            <a:ext cx="347472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1B1B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8366760" y="1783080"/>
            <a:ext cx="502920" cy="109728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366760" y="20116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B2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Fast Entry</a:t>
            </a:r>
            <a:endParaRPr lang="en-US" sz="1650" dirty="0"/>
          </a:p>
        </p:txBody>
      </p:sp>
      <p:sp>
        <p:nvSpPr>
          <p:cNvPr id="14" name="Text 12"/>
          <p:cNvSpPr txBox="1"/>
          <p:nvPr/>
        </p:nvSpPr>
        <p:spPr>
          <a:xfrm>
            <a:off x="8366760" y="246888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an expense in seconds — amount, payer, date.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3840480"/>
            <a:ext cx="347472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1B1B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77240" y="4069080"/>
            <a:ext cx="502920" cy="109728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77240" y="42976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B2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Category &amp; Person Insight</a:t>
            </a:r>
            <a:endParaRPr lang="en-US" sz="165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475488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spending by category and by who paid.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343400" y="3840480"/>
            <a:ext cx="347472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1B1B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0" y="4069080"/>
            <a:ext cx="502920" cy="109728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572000" y="42976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B2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Admin Oversight</a:t>
            </a:r>
            <a:endParaRPr lang="en-US" sz="1650" dirty="0"/>
          </a:p>
        </p:txBody>
      </p:sp>
      <p:sp>
        <p:nvSpPr>
          <p:cNvPr id="22" name="Text 20"/>
          <p:cNvSpPr txBox="1"/>
          <p:nvPr/>
        </p:nvSpPr>
        <p:spPr>
          <a:xfrm>
            <a:off x="4572000" y="475488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 categories, monitor every user's activity.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8138160" y="3840480"/>
            <a:ext cx="347472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1B1B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8366760" y="4069080"/>
            <a:ext cx="502920" cy="109728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366760" y="42976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B2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 Everywhere</a:t>
            </a:r>
            <a:endParaRPr lang="en-US" sz="1650" dirty="0"/>
          </a:p>
        </p:txBody>
      </p:sp>
      <p:sp>
        <p:nvSpPr>
          <p:cNvPr id="26" name="Text 24"/>
          <p:cNvSpPr txBox="1"/>
          <p:nvPr/>
        </p:nvSpPr>
        <p:spPr>
          <a:xfrm>
            <a:off x="8366760" y="475488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Responsive layout, no install, no framework.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11475720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2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Existing Approach vs. Proposed System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5212080" cy="4206240"/>
          </a:xfrm>
          <a:prstGeom prst="roundRect">
            <a:avLst>
              <a:gd name="adj" fmla="val 1739"/>
            </a:avLst>
          </a:prstGeom>
          <a:solidFill>
            <a:srgbClr val="F2F2F2"/>
          </a:solidFill>
          <a:ln/>
          <a:effectLst>
            <a:outerShdw sx="100000" sy="100000" kx="0" ky="0" algn="bl" rotWithShape="0" blurRad="76200" dist="25400" dir="5400000">
              <a:srgbClr val="1B1B1B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868680" y="18745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A8F8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Existing Approach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514600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 Mental tracking or scattered notes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3172968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 Manual spreadsheets with formulas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831336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 No separation of admin and user views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4489704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 No quick category or per-person insight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126480" y="1600200"/>
            <a:ext cx="5212080" cy="4206240"/>
          </a:xfrm>
          <a:prstGeom prst="roundRect">
            <a:avLst>
              <a:gd name="adj" fmla="val 1739"/>
            </a:avLst>
          </a:prstGeom>
          <a:solidFill>
            <a:srgbClr val="028090"/>
          </a:solidFill>
          <a:ln/>
          <a:effectLst>
            <a:outerShdw sx="100000" sy="100000" kx="0" ky="0" algn="bl" rotWithShape="0" blurRad="76200" dist="25400" dir="5400000">
              <a:srgbClr val="1B1B1B">
                <a:alpha val="1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446520" y="18745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Proposed: Expense Tracker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446520" y="2514600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EAF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Sign up &amp; log in — JS routes you by role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6446520" y="3172968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EAF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Dedicated Admin and User modules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6446520" y="3831336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EAF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Automatic category &amp; per-person breakdowns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6446520" y="4489704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EAF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All data saved locally, ready on next visit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11475720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2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Architecture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77240" y="2377440"/>
            <a:ext cx="3200400" cy="2377440"/>
          </a:xfrm>
          <a:prstGeom prst="roundRect">
            <a:avLst>
              <a:gd name="adj" fmla="val 3846"/>
            </a:avLst>
          </a:prstGeom>
          <a:solidFill>
            <a:srgbClr val="00A896"/>
          </a:solidFill>
          <a:ln/>
          <a:effectLst>
            <a:outerShdw sx="100000" sy="100000" kx="0" ky="0" algn="bl" rotWithShape="0" blurRad="101600" dist="38100" dir="5400000">
              <a:srgbClr val="1B1B1B">
                <a:alpha val="15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960120" y="29260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Presentation Layer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352044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EAF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+ CSS (Grid &amp; Flexbox)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3977640" y="3200400"/>
            <a:ext cx="685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4663440" y="2377440"/>
            <a:ext cx="3200400" cy="2377440"/>
          </a:xfrm>
          <a:prstGeom prst="roundRect">
            <a:avLst>
              <a:gd name="adj" fmla="val 3846"/>
            </a:avLst>
          </a:prstGeom>
          <a:solidFill>
            <a:srgbClr val="028090"/>
          </a:solidFill>
          <a:ln/>
          <a:effectLst>
            <a:outerShdw sx="100000" sy="100000" kx="0" ky="0" algn="bl" rotWithShape="0" blurRad="101600" dist="38100" dir="5400000">
              <a:srgbClr val="1B1B1B">
                <a:alpha val="1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846320" y="29260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Application Logic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4846320" y="352044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EAF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JavaScript — common.js + per-page scripts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7863840" y="3200400"/>
            <a:ext cx="685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8549640" y="2377440"/>
            <a:ext cx="3200400" cy="2377440"/>
          </a:xfrm>
          <a:prstGeom prst="roundRect">
            <a:avLst>
              <a:gd name="adj" fmla="val 3846"/>
            </a:avLst>
          </a:prstGeom>
          <a:solidFill>
            <a:srgbClr val="0B2B2E"/>
          </a:solidFill>
          <a:ln/>
          <a:effectLst>
            <a:outerShdw sx="100000" sy="100000" kx="0" ky="0" algn="bl" rotWithShape="0" blurRad="101600" dist="38100" dir="5400000">
              <a:srgbClr val="1B1B1B">
                <a:alpha val="15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8732520" y="29260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Layer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8732520" y="352044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EAF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LocalStorage — users, session, categories, data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521208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runs client-side — no network round-trip, no framework, no backend.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1475720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2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Technology Stack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920240"/>
            <a:ext cx="2526030" cy="2834640"/>
          </a:xfrm>
          <a:prstGeom prst="roundRect">
            <a:avLst>
              <a:gd name="adj" fmla="val 2896"/>
            </a:avLst>
          </a:prstGeom>
          <a:solidFill>
            <a:srgbClr val="F3F6F5"/>
          </a:solidFill>
          <a:ln/>
          <a:effectLst>
            <a:outerShdw sx="100000" sy="100000" kx="0" ky="0" algn="bl" rotWithShape="0" blurRad="76200" dist="25400" dir="5400000">
              <a:srgbClr val="1B1B1B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308735" y="2286000"/>
            <a:ext cx="1005840" cy="100584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308735" y="228600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80" dirty="0">
                <a:solidFill>
                  <a:srgbClr val="000000"/>
                </a:solidFill>
              </a:rPr>
              <a:t>📄</a:t>
            </a:r>
            <a:endParaRPr lang="en-US" sz="308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474720"/>
            <a:ext cx="225171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2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HTML5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886200"/>
            <a:ext cx="225171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structure, 4 pages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394710" y="1920240"/>
            <a:ext cx="2526030" cy="2834640"/>
          </a:xfrm>
          <a:prstGeom prst="roundRect">
            <a:avLst>
              <a:gd name="adj" fmla="val 2896"/>
            </a:avLst>
          </a:prstGeom>
          <a:solidFill>
            <a:srgbClr val="F3F6F5"/>
          </a:solidFill>
          <a:ln/>
          <a:effectLst>
            <a:outerShdw sx="100000" sy="100000" kx="0" ky="0" algn="bl" rotWithShape="0" blurRad="76200" dist="25400" dir="5400000">
              <a:srgbClr val="1B1B1B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154805" y="2286000"/>
            <a:ext cx="1005840" cy="100584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54805" y="228600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80" dirty="0">
                <a:solidFill>
                  <a:srgbClr val="000000"/>
                </a:solidFill>
              </a:rPr>
              <a:t>🎨</a:t>
            </a:r>
            <a:endParaRPr lang="en-US" sz="3080" dirty="0"/>
          </a:p>
        </p:txBody>
      </p:sp>
      <p:sp>
        <p:nvSpPr>
          <p:cNvPr id="11" name="Text 9"/>
          <p:cNvSpPr txBox="1"/>
          <p:nvPr/>
        </p:nvSpPr>
        <p:spPr>
          <a:xfrm>
            <a:off x="3531870" y="3474720"/>
            <a:ext cx="225171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2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CSS3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531870" y="3886200"/>
            <a:ext cx="225171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 for layout, Flexbox for components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240780" y="1920240"/>
            <a:ext cx="2526030" cy="2834640"/>
          </a:xfrm>
          <a:prstGeom prst="roundRect">
            <a:avLst>
              <a:gd name="adj" fmla="val 2896"/>
            </a:avLst>
          </a:prstGeom>
          <a:solidFill>
            <a:srgbClr val="F3F6F5"/>
          </a:solidFill>
          <a:ln/>
          <a:effectLst>
            <a:outerShdw sx="100000" sy="100000" kx="0" ky="0" algn="bl" rotWithShape="0" blurRad="76200" dist="25400" dir="5400000">
              <a:srgbClr val="1B1B1B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000875" y="2286000"/>
            <a:ext cx="1005840" cy="100584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000875" y="228600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80" dirty="0">
                <a:solidFill>
                  <a:srgbClr val="000000"/>
                </a:solidFill>
              </a:rPr>
              <a:t>⚙️</a:t>
            </a:r>
            <a:endParaRPr lang="en-US" sz="3080" dirty="0"/>
          </a:p>
        </p:txBody>
      </p:sp>
      <p:sp>
        <p:nvSpPr>
          <p:cNvPr id="16" name="Text 14"/>
          <p:cNvSpPr txBox="1"/>
          <p:nvPr/>
        </p:nvSpPr>
        <p:spPr>
          <a:xfrm>
            <a:off x="6377940" y="3474720"/>
            <a:ext cx="225171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2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JavaScript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377940" y="3886200"/>
            <a:ext cx="225171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Logic, validation &amp; module routing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9086850" y="1920240"/>
            <a:ext cx="2526030" cy="2834640"/>
          </a:xfrm>
          <a:prstGeom prst="roundRect">
            <a:avLst>
              <a:gd name="adj" fmla="val 2896"/>
            </a:avLst>
          </a:prstGeom>
          <a:solidFill>
            <a:srgbClr val="F3F6F5"/>
          </a:solidFill>
          <a:ln/>
          <a:effectLst>
            <a:outerShdw sx="100000" sy="100000" kx="0" ky="0" algn="bl" rotWithShape="0" blurRad="76200" dist="25400" dir="5400000">
              <a:srgbClr val="1B1B1B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9846945" y="2286000"/>
            <a:ext cx="1005840" cy="100584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846945" y="228600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80" dirty="0">
                <a:solidFill>
                  <a:srgbClr val="000000"/>
                </a:solidFill>
              </a:rPr>
              <a:t>💾</a:t>
            </a:r>
            <a:endParaRPr lang="en-US" sz="3080" dirty="0"/>
          </a:p>
        </p:txBody>
      </p:sp>
      <p:sp>
        <p:nvSpPr>
          <p:cNvPr id="21" name="Text 19"/>
          <p:cNvSpPr txBox="1"/>
          <p:nvPr/>
        </p:nvSpPr>
        <p:spPr>
          <a:xfrm>
            <a:off x="9224010" y="3474720"/>
            <a:ext cx="225171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2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LocalStorage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224010" y="3886200"/>
            <a:ext cx="225171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data store — no server, no DB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51206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other language, library or framework is used — per the project guidelines.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1475720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2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Authentication &amp; Navigation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00200"/>
            <a:ext cx="822960" cy="82296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6002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20" dirty="0">
                <a:solidFill>
                  <a:srgbClr val="000000"/>
                </a:solidFill>
              </a:rPr>
              <a:t>🔐</a:t>
            </a:r>
            <a:endParaRPr lang="en-US" sz="2520" dirty="0"/>
          </a:p>
        </p:txBody>
      </p:sp>
      <p:sp>
        <p:nvSpPr>
          <p:cNvPr id="5" name="Text 3"/>
          <p:cNvSpPr txBox="1"/>
          <p:nvPr/>
        </p:nvSpPr>
        <p:spPr>
          <a:xfrm>
            <a:off x="1737360" y="1554480"/>
            <a:ext cx="9692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2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Sign Up &amp; Log In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1737360" y="196596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Accounts are created and checked entirely against LocalStorage — no server.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3017520"/>
            <a:ext cx="822960" cy="82296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30175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20" dirty="0">
                <a:solidFill>
                  <a:srgbClr val="000000"/>
                </a:solidFill>
              </a:rPr>
              <a:t>🧭</a:t>
            </a:r>
            <a:endParaRPr lang="en-US" sz="2520" dirty="0"/>
          </a:p>
        </p:txBody>
      </p:sp>
      <p:sp>
        <p:nvSpPr>
          <p:cNvPr id="9" name="Text 7"/>
          <p:cNvSpPr txBox="1"/>
          <p:nvPr/>
        </p:nvSpPr>
        <p:spPr>
          <a:xfrm>
            <a:off x="1737360" y="2971800"/>
            <a:ext cx="9692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2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Role-Based Routing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1737360" y="338328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login, JavaScript sends Admin and User accounts to their own page.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4434840"/>
            <a:ext cx="822960" cy="82296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4348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20" dirty="0">
                <a:solidFill>
                  <a:srgbClr val="000000"/>
                </a:solidFill>
              </a:rPr>
              <a:t>🚪</a:t>
            </a:r>
            <a:endParaRPr lang="en-US" sz="2520" dirty="0"/>
          </a:p>
        </p:txBody>
      </p:sp>
      <p:sp>
        <p:nvSpPr>
          <p:cNvPr id="13" name="Text 11"/>
          <p:cNvSpPr txBox="1"/>
          <p:nvPr/>
        </p:nvSpPr>
        <p:spPr>
          <a:xfrm>
            <a:off x="1737360" y="4389120"/>
            <a:ext cx="9692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2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Guarded Pages &amp; Logout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1737360" y="480060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module re-checks the session on load and returns to Login if it's missing.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1475720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2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User Module — Key Features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3474720" cy="1965960"/>
          </a:xfrm>
          <a:prstGeom prst="roundRect">
            <a:avLst>
              <a:gd name="adj" fmla="val 3721"/>
            </a:avLst>
          </a:prstGeom>
          <a:solidFill>
            <a:srgbClr val="F3F6F5"/>
          </a:solidFill>
          <a:ln/>
          <a:effectLst>
            <a:outerShdw sx="100000" sy="100000" kx="0" ky="0" algn="bl" rotWithShape="0" blurRad="76200" dist="25400" dir="5400000">
              <a:srgbClr val="1B1B1B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77240" y="1810512"/>
            <a:ext cx="365760" cy="36576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230428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2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 Expense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724912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Amount, category, payer &amp; date in one quick form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43400" y="1554480"/>
            <a:ext cx="3474720" cy="1965960"/>
          </a:xfrm>
          <a:prstGeom prst="roundRect">
            <a:avLst>
              <a:gd name="adj" fmla="val 3721"/>
            </a:avLst>
          </a:prstGeom>
          <a:solidFill>
            <a:srgbClr val="F3F6F5"/>
          </a:solidFill>
          <a:ln/>
          <a:effectLst>
            <a:outerShdw sx="100000" sy="100000" kx="0" ky="0" algn="bl" rotWithShape="0" blurRad="76200" dist="25400" dir="5400000">
              <a:srgbClr val="1B1B1B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0" y="1810512"/>
            <a:ext cx="365760" cy="36576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72000" y="230428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2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Group Members &amp; Paid By</a:t>
            </a:r>
            <a:endParaRPr lang="en-US" sz="155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2724912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who's in the group and who paid each time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138160" y="1554480"/>
            <a:ext cx="3474720" cy="1965960"/>
          </a:xfrm>
          <a:prstGeom prst="roundRect">
            <a:avLst>
              <a:gd name="adj" fmla="val 3721"/>
            </a:avLst>
          </a:prstGeom>
          <a:solidFill>
            <a:srgbClr val="F3F6F5"/>
          </a:solidFill>
          <a:ln/>
          <a:effectLst>
            <a:outerShdw sx="100000" sy="100000" kx="0" ky="0" algn="bl" rotWithShape="0" blurRad="76200" dist="25400" dir="5400000">
              <a:srgbClr val="1B1B1B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8366760" y="1810512"/>
            <a:ext cx="365760" cy="36576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366760" y="230428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2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Summary Dashboard</a:t>
            </a:r>
            <a:endParaRPr lang="en-US" sz="1550" dirty="0"/>
          </a:p>
        </p:txBody>
      </p:sp>
      <p:sp>
        <p:nvSpPr>
          <p:cNvPr id="14" name="Text 12"/>
          <p:cNvSpPr txBox="1"/>
          <p:nvPr/>
        </p:nvSpPr>
        <p:spPr>
          <a:xfrm>
            <a:off x="8366760" y="2724912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total spent and transaction count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3840480"/>
            <a:ext cx="3474720" cy="1965960"/>
          </a:xfrm>
          <a:prstGeom prst="roundRect">
            <a:avLst>
              <a:gd name="adj" fmla="val 3721"/>
            </a:avLst>
          </a:prstGeom>
          <a:solidFill>
            <a:srgbClr val="F3F6F5"/>
          </a:solidFill>
          <a:ln/>
          <a:effectLst>
            <a:outerShdw sx="100000" sy="100000" kx="0" ky="0" algn="bl" rotWithShape="0" blurRad="76200" dist="25400" dir="5400000">
              <a:srgbClr val="1B1B1B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77240" y="4096512"/>
            <a:ext cx="365760" cy="36576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77240" y="459028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2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Category Breakdown</a:t>
            </a:r>
            <a:endParaRPr lang="en-US" sz="155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5010912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Proportional view of where money goes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343400" y="3840480"/>
            <a:ext cx="3474720" cy="1965960"/>
          </a:xfrm>
          <a:prstGeom prst="roundRect">
            <a:avLst>
              <a:gd name="adj" fmla="val 3721"/>
            </a:avLst>
          </a:prstGeom>
          <a:solidFill>
            <a:srgbClr val="F3F6F5"/>
          </a:solidFill>
          <a:ln/>
          <a:effectLst>
            <a:outerShdw sx="100000" sy="100000" kx="0" ky="0" algn="bl" rotWithShape="0" blurRad="76200" dist="25400" dir="5400000">
              <a:srgbClr val="1B1B1B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0" y="4096512"/>
            <a:ext cx="365760" cy="36576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572000" y="459028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2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Spending by Person</a:t>
            </a:r>
            <a:endParaRPr lang="en-US" sz="1550" dirty="0"/>
          </a:p>
        </p:txBody>
      </p:sp>
      <p:sp>
        <p:nvSpPr>
          <p:cNvPr id="22" name="Text 20"/>
          <p:cNvSpPr txBox="1"/>
          <p:nvPr/>
        </p:nvSpPr>
        <p:spPr>
          <a:xfrm>
            <a:off x="4572000" y="5010912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exactly how much each person has paid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8138160" y="3840480"/>
            <a:ext cx="3474720" cy="1965960"/>
          </a:xfrm>
          <a:prstGeom prst="roundRect">
            <a:avLst>
              <a:gd name="adj" fmla="val 3721"/>
            </a:avLst>
          </a:prstGeom>
          <a:solidFill>
            <a:srgbClr val="F3F6F5"/>
          </a:solidFill>
          <a:ln/>
          <a:effectLst>
            <a:outerShdw sx="100000" sy="100000" kx="0" ky="0" algn="bl" rotWithShape="0" blurRad="76200" dist="25400" dir="5400000">
              <a:srgbClr val="1B1B1B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8366760" y="4096512"/>
            <a:ext cx="365760" cy="36576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366760" y="459028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2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Responsive Design</a:t>
            </a:r>
            <a:endParaRPr lang="en-US" sz="1550" dirty="0"/>
          </a:p>
        </p:txBody>
      </p:sp>
      <p:sp>
        <p:nvSpPr>
          <p:cNvPr id="26" name="Text 24"/>
          <p:cNvSpPr txBox="1"/>
          <p:nvPr/>
        </p:nvSpPr>
        <p:spPr>
          <a:xfrm>
            <a:off x="8366760" y="5010912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Looks right on phone, tablet or desktop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11475720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2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Admin Module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00200"/>
            <a:ext cx="822960" cy="82296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6002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20" dirty="0">
                <a:solidFill>
                  <a:srgbClr val="000000"/>
                </a:solidFill>
              </a:rPr>
              <a:t>🗂️</a:t>
            </a:r>
            <a:endParaRPr lang="en-US" sz="2520" dirty="0"/>
          </a:p>
        </p:txBody>
      </p:sp>
      <p:sp>
        <p:nvSpPr>
          <p:cNvPr id="5" name="Text 3"/>
          <p:cNvSpPr txBox="1"/>
          <p:nvPr/>
        </p:nvSpPr>
        <p:spPr>
          <a:xfrm>
            <a:off x="1737360" y="1554480"/>
            <a:ext cx="9692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2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Manage Categories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1737360" y="196596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or remove entries in the shared category list every user draws from.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3017520"/>
            <a:ext cx="822960" cy="82296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30175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20" dirty="0">
                <a:solidFill>
                  <a:srgbClr val="000000"/>
                </a:solidFill>
              </a:rPr>
              <a:t>👥</a:t>
            </a:r>
            <a:endParaRPr lang="en-US" sz="2520" dirty="0"/>
          </a:p>
        </p:txBody>
      </p:sp>
      <p:sp>
        <p:nvSpPr>
          <p:cNvPr id="9" name="Text 7"/>
          <p:cNvSpPr txBox="1"/>
          <p:nvPr/>
        </p:nvSpPr>
        <p:spPr>
          <a:xfrm>
            <a:off x="1737360" y="2971800"/>
            <a:ext cx="9692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2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Monitor Every User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1737360" y="338328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live table of each account's transaction count and total spend.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4434840"/>
            <a:ext cx="822960" cy="82296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4348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20" dirty="0">
                <a:solidFill>
                  <a:srgbClr val="000000"/>
                </a:solidFill>
              </a:rPr>
              <a:t>🗑️</a:t>
            </a:r>
            <a:endParaRPr lang="en-US" sz="2520" dirty="0"/>
          </a:p>
        </p:txBody>
      </p:sp>
      <p:sp>
        <p:nvSpPr>
          <p:cNvPr id="13" name="Text 11"/>
          <p:cNvSpPr txBox="1"/>
          <p:nvPr/>
        </p:nvSpPr>
        <p:spPr>
          <a:xfrm>
            <a:off x="1737360" y="4389120"/>
            <a:ext cx="9692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2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Remove a User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1737360" y="480060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 an account and its expense data directly from the dashboard.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1475720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2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Sample Spending Breakdown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data from the User Module — one sample month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731520" y="1737360"/>
          <a:ext cx="603504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315200" y="1920240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028090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726680" y="18745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Food  —  35% of spend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7315200" y="2560320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00A896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726680" y="251460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  —  20% of spend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7315200" y="3200400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02C39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726680" y="31546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Bills  —  25% of spend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7315200" y="3840480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6FB9B3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726680" y="37947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Entertainment  —  10% of spend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7315200" y="4480560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B7D9D6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7726680" y="44348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 —  10% of spend</a:t>
            </a:r>
            <a:endParaRPr 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11475720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3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2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Advantages &amp; Future Scope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5212080" cy="420624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1B1B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868680" y="18745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Advantages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51460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Clear split between Admin and User responsibilities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329184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No install, framework or internet needed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406908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Instant totals, category &amp; per-person feedback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484632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Zero hosting cost — no backend to run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126480" y="1600200"/>
            <a:ext cx="5212080" cy="4206240"/>
          </a:xfrm>
          <a:prstGeom prst="roundRect">
            <a:avLst>
              <a:gd name="adj" fmla="val 1739"/>
            </a:avLst>
          </a:prstGeom>
          <a:solidFill>
            <a:srgbClr val="0B2B2E"/>
          </a:solidFill>
          <a:ln/>
          <a:effectLst>
            <a:outerShdw sx="100000" sy="100000" kx="0" ky="0" algn="bl" rotWithShape="0" blurRad="76200" dist="25400" dir="5400000">
              <a:srgbClr val="1B1B1B">
                <a:alpha val="1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446520" y="18745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Future Scope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446520" y="251460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AF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Real backend (Node.js/Express or Java/Spring Boot) + database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446520" y="329184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AF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Hashed passwords instead of plain text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46520" y="406908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AF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Budgets, alerts and trend analytics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446520" y="484632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AF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Export expense history to Excel or PDF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1475720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2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463040"/>
            <a:ext cx="4572000" cy="4572000"/>
          </a:xfrm>
          <a:prstGeom prst="ellipse">
            <a:avLst/>
          </a:prstGeom>
          <a:solidFill>
            <a:srgbClr val="028090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3840480"/>
            <a:ext cx="4114800" cy="4114800"/>
          </a:xfrm>
          <a:prstGeom prst="ellipse">
            <a:avLst/>
          </a:prstGeom>
          <a:solidFill>
            <a:srgbClr val="00A896">
              <a:alpha val="3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256032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6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352044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less effort. Understand more.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5943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CF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2026-09-26T04:35:32Z</dcterms:created>
  <dcterms:modified xsi:type="dcterms:W3CDTF">2026-09-26T04:35:32Z</dcterms:modified>
</cp:coreProperties>
</file>